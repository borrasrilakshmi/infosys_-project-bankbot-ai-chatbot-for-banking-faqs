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38CC"/>
    <a:srgbClr val="9408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RRA SRILAKSHMI" userId="eafb0d781802a5e2" providerId="LiveId" clId="{EE5C2BD9-245D-460E-B073-6B38016B6FE1}"/>
    <pc:docChg chg="custSel modSld">
      <pc:chgData name="BORRA SRILAKSHMI" userId="eafb0d781802a5e2" providerId="LiveId" clId="{EE5C2BD9-245D-460E-B073-6B38016B6FE1}" dt="2026-01-19T04:21:53.326" v="1" actId="20577"/>
      <pc:docMkLst>
        <pc:docMk/>
      </pc:docMkLst>
      <pc:sldChg chg="modSp mod">
        <pc:chgData name="BORRA SRILAKSHMI" userId="eafb0d781802a5e2" providerId="LiveId" clId="{EE5C2BD9-245D-460E-B073-6B38016B6FE1}" dt="2026-01-19T04:21:53.326" v="1" actId="20577"/>
        <pc:sldMkLst>
          <pc:docMk/>
          <pc:sldMk cId="0" sldId="256"/>
        </pc:sldMkLst>
        <pc:spChg chg="mod">
          <ac:chgData name="BORRA SRILAKSHMI" userId="eafb0d781802a5e2" providerId="LiveId" clId="{EE5C2BD9-245D-460E-B073-6B38016B6FE1}" dt="2026-01-19T04:21:53.326" v="1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8316" y="496530"/>
            <a:ext cx="7772400" cy="1115960"/>
          </a:xfrm>
        </p:spPr>
        <p:txBody>
          <a:bodyPr>
            <a:normAutofit fontScale="90000"/>
          </a:bodyPr>
          <a:lstStyle/>
          <a:p>
            <a:r>
              <a:rPr lang="en-IN" sz="3600" b="1" i="1" u="sng" dirty="0" err="1">
                <a:solidFill>
                  <a:schemeClr val="tx2"/>
                </a:solidFill>
              </a:rPr>
              <a:t>BankBot</a:t>
            </a:r>
            <a:r>
              <a:rPr lang="en-IN" sz="3600" b="1" i="1" u="sng" dirty="0">
                <a:solidFill>
                  <a:schemeClr val="tx2"/>
                </a:solidFill>
              </a:rPr>
              <a:t> AI Chatbot for Banking FAQs</a:t>
            </a:r>
            <a:br>
              <a:rPr lang="en-IN" sz="3600" b="1" i="1" u="sng" dirty="0">
                <a:solidFill>
                  <a:schemeClr val="tx2"/>
                </a:solidFill>
              </a:rPr>
            </a:br>
            <a:r>
              <a:rPr lang="en-IN" sz="3600" b="1" i="1" u="sng" dirty="0">
                <a:solidFill>
                  <a:srgbClr val="940812"/>
                </a:solidFill>
              </a:rPr>
              <a:t>MILESTONE-1</a:t>
            </a:r>
            <a:endParaRPr sz="3600" b="1" i="1" u="sng" dirty="0">
              <a:solidFill>
                <a:schemeClr val="tx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23A922A-215A-23D9-CA76-5DA910F774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9508" y="1959997"/>
            <a:ext cx="769120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Enable the chatbot to understand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user intent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from natural language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Extract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key entities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required for banking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Form the foundation for dialogue management and backend 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Ensure reliable interpretation of user requests before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664E7-E41E-2F50-11CD-7CDFB111C7AA}"/>
              </a:ext>
            </a:extLst>
          </p:cNvPr>
          <p:cNvSpPr txBox="1"/>
          <p:nvPr/>
        </p:nvSpPr>
        <p:spPr>
          <a:xfrm>
            <a:off x="2723536" y="3178105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 dirty="0">
                <a:solidFill>
                  <a:srgbClr val="0070C0"/>
                </a:solidFill>
              </a:rPr>
              <a:t>Key Intents Defined</a:t>
            </a:r>
          </a:p>
          <a:p>
            <a:endParaRPr lang="en-US" sz="2400" u="sn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AEB8F4-BB23-85F5-CF98-8E91D07B2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952567"/>
            <a:ext cx="6233652" cy="25662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7F876CD5-DF4B-B305-FD21-EE38357E7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Check Balance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– User queries account 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Transfer Money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– User initiates fund transfer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Card Block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– User requests card blocking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Find ATM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– User searches for nearby ATMs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8415495-AA95-3EEC-DD92-0AAEE609A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425677" y="1657631"/>
            <a:ext cx="9006348" cy="4525963"/>
          </a:xfrm>
        </p:spPr>
        <p:txBody>
          <a:bodyPr/>
          <a:lstStyle/>
          <a:p>
            <a:pPr marL="3543300" lvl="8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b="1" i="1" u="sng" dirty="0">
                <a:solidFill>
                  <a:srgbClr val="FF0000"/>
                </a:solidFill>
              </a:rPr>
              <a:t>Intent Design Strategy</a:t>
            </a:r>
          </a:p>
          <a:p>
            <a:pPr marL="3543300" lvl="8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IN" altLang="en-US" sz="2000" b="1" i="1" u="sng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IN" b="1" i="1" u="sng" dirty="0">
              <a:solidFill>
                <a:srgbClr val="FF0000"/>
              </a:solidFill>
            </a:endParaRP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A5FC893-800A-8B89-C024-F2503A67574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81548" y="2364462"/>
            <a:ext cx="8406581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Included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variations in language, tone, and phrasing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Covered both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formal and informal queries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Ensured intent separation to avoid overlap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Collected </a:t>
            </a:r>
            <a:r>
              <a:rPr lang="en-US" alt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realistic user utterances</a:t>
            </a:r>
            <a:endParaRPr lang="en-US" alt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</a:t>
            </a:r>
            <a:r>
              <a:rPr lang="en-IN" b="1" i="1" u="sng" dirty="0">
                <a:solidFill>
                  <a:srgbClr val="FFC000"/>
                </a:solidFill>
              </a:rPr>
              <a:t>Entity Recognition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Amount –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Money involved in transactions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Account Type – </a:t>
            </a:r>
            <a:r>
              <a:rPr lang="en-US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Savings/ current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Date-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Tra</a:t>
            </a:r>
            <a:r>
              <a:rPr lang="en-US" alt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nsaction or request timing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Location-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ATM or branch search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IN" sz="3200" b="1" i="1" dirty="0">
                <a:solidFill>
                  <a:srgbClr val="FFC000"/>
                </a:solidFill>
              </a:rPr>
              <a:t>                  </a:t>
            </a:r>
            <a:endParaRPr kumimoji="0" lang="en-US" altLang="en-US" sz="3200" b="1" i="1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6F4A-F3E6-BF86-9BD0-49C23391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42898"/>
          </a:xfrm>
        </p:spPr>
        <p:txBody>
          <a:bodyPr>
            <a:normAutofit/>
          </a:bodyPr>
          <a:lstStyle/>
          <a:p>
            <a:r>
              <a:rPr lang="en-US" sz="4000" b="1" i="1" u="sng" dirty="0">
                <a:solidFill>
                  <a:schemeClr val="accent2">
                    <a:lumMod val="50000"/>
                  </a:schemeClr>
                </a:solidFill>
              </a:rPr>
              <a:t>NLU Visualizer</a:t>
            </a:r>
            <a:br>
              <a:rPr lang="en-US" sz="4000" b="1" i="1" u="sng" dirty="0">
                <a:solidFill>
                  <a:schemeClr val="accent2">
                    <a:lumMod val="50000"/>
                  </a:schemeClr>
                </a:solidFill>
              </a:rPr>
            </a:br>
            <a:endParaRPr lang="en-IN" sz="4000" i="1" u="sng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C8BD98-8936-9A22-BFA6-88720ED70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2718"/>
            <a:ext cx="8229600" cy="285544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176D72-FFF8-079E-50B0-A8EFFE6C5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2" y="4149212"/>
            <a:ext cx="8583561" cy="270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6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856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u="sng" dirty="0">
                <a:solidFill>
                  <a:srgbClr val="7030A0"/>
                </a:solidFill>
              </a:rPr>
              <a:t>MILESTONE-2</a:t>
            </a:r>
            <a:endParaRPr sz="4000" b="1" u="sng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544" y="1319784"/>
            <a:ext cx="8229600" cy="4525963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3800" i="1" u="sng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Response Handling &amp; Dialogue Flow</a:t>
            </a:r>
          </a:p>
          <a:p>
            <a:pPr marL="0" indent="0">
              <a:buNone/>
            </a:pPr>
            <a:endParaRPr lang="en-US" i="1" u="sng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Control conversation flow after intent recognition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Handle multi-step banking operations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Generate accurate and secure system responses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Manage errors, fallback scenarios, and casual interactions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600" dirty="0">
                <a:latin typeface="Cambria Math" panose="02040503050406030204" pitchFamily="18" charset="0"/>
                <a:ea typeface="Cambria Math" panose="02040503050406030204" pitchFamily="18" charset="0"/>
              </a:rPr>
              <a:t>Improve overall user experience and reliability</a:t>
            </a:r>
          </a:p>
          <a:p>
            <a:pPr marL="0" indent="0">
              <a:buNone/>
            </a:pP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IN" sz="38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</a:t>
            </a:r>
            <a:r>
              <a:rPr lang="en-US" sz="3800" b="1" i="1" u="sng" dirty="0">
                <a:solidFill>
                  <a:schemeClr val="accent6">
                    <a:lumMod val="75000"/>
                  </a:schemeClr>
                </a:solidFill>
              </a:rPr>
              <a:t>Money Transfer Dialogue Flow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900" dirty="0">
                <a:latin typeface="Cambria Math" panose="02040503050406030204" pitchFamily="18" charset="0"/>
                <a:ea typeface="Cambria Math" panose="02040503050406030204" pitchFamily="18" charset="0"/>
              </a:rPr>
              <a:t>User selects </a:t>
            </a:r>
            <a:r>
              <a:rPr lang="en-US" sz="29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Transfer Money</a:t>
            </a:r>
            <a:endParaRPr lang="en-US" sz="29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900" dirty="0">
                <a:latin typeface="Cambria Math" panose="02040503050406030204" pitchFamily="18" charset="0"/>
                <a:ea typeface="Cambria Math" panose="02040503050406030204" pitchFamily="18" charset="0"/>
              </a:rPr>
              <a:t>System verifies login status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900" dirty="0">
                <a:latin typeface="Cambria Math" panose="02040503050406030204" pitchFamily="18" charset="0"/>
                <a:ea typeface="Cambria Math" panose="02040503050406030204" pitchFamily="18" charset="0"/>
              </a:rPr>
              <a:t>Displays current account balance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900" dirty="0">
                <a:latin typeface="Cambria Math" panose="02040503050406030204" pitchFamily="18" charset="0"/>
                <a:ea typeface="Cambria Math" panose="02040503050406030204" pitchFamily="18" charset="0"/>
              </a:rPr>
              <a:t>Collects receiver account number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900" dirty="0">
                <a:latin typeface="Cambria Math" panose="02040503050406030204" pitchFamily="18" charset="0"/>
                <a:ea typeface="Cambria Math" panose="02040503050406030204" pitchFamily="18" charset="0"/>
              </a:rPr>
              <a:t>Collects transfer amount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900" dirty="0">
                <a:latin typeface="Cambria Math" panose="02040503050406030204" pitchFamily="18" charset="0"/>
                <a:ea typeface="Cambria Math" panose="02040503050406030204" pitchFamily="18" charset="0"/>
              </a:rPr>
              <a:t>Verifies password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900" dirty="0">
                <a:latin typeface="Cambria Math" panose="02040503050406030204" pitchFamily="18" charset="0"/>
                <a:ea typeface="Cambria Math" panose="02040503050406030204" pitchFamily="18" charset="0"/>
              </a:rPr>
              <a:t>Confirms transaction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900" dirty="0">
                <a:latin typeface="Cambria Math" panose="02040503050406030204" pitchFamily="18" charset="0"/>
                <a:ea typeface="Cambria Math" panose="02040503050406030204" pitchFamily="18" charset="0"/>
              </a:rPr>
              <a:t>Updates balance and displays success message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sz="2000" i="1" u="sng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096E79-6749-701E-FA69-CA5FAD58D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809801"/>
          </a:xfrm>
        </p:spPr>
        <p:txBody>
          <a:bodyPr>
            <a:normAutofit fontScale="90000"/>
          </a:bodyPr>
          <a:lstStyle/>
          <a:p>
            <a:r>
              <a:rPr lang="en-US" b="1" i="1" u="sng" dirty="0">
                <a:solidFill>
                  <a:schemeClr val="accent4">
                    <a:lumMod val="50000"/>
                  </a:schemeClr>
                </a:solidFill>
              </a:rPr>
              <a:t>MILESTONE-3</a:t>
            </a:r>
            <a:br>
              <a:rPr lang="en-US" b="1" i="1" u="sng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b="1" i="1" u="sng" dirty="0">
                <a:solidFill>
                  <a:schemeClr val="accent5">
                    <a:lumMod val="50000"/>
                  </a:schemeClr>
                </a:solidFill>
              </a:rPr>
              <a:t>UI Integration &amp; Chat Interface</a:t>
            </a:r>
            <a:br>
              <a:rPr lang="en-US" b="1" i="1" u="sng" dirty="0">
                <a:solidFill>
                  <a:schemeClr val="accent4">
                    <a:lumMod val="50000"/>
                  </a:schemeClr>
                </a:solidFill>
              </a:rPr>
            </a:br>
            <a:endParaRPr b="1" i="1" u="sng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5" y="1750142"/>
            <a:ext cx="9144000" cy="3621959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Provide an intuitive and user-friendly chat interface.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Enable real-time interaction with the chatbot.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Integrate frontend UI with backend NLU and dialogue engine.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Handle user errors and edge cases gracefully.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Improve overall user experience and accessibility.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IN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IN" sz="7400" b="1" dirty="0"/>
              <a:t>                                           </a:t>
            </a:r>
            <a:r>
              <a:rPr lang="en-IN" sz="9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Chat Interface Design</a:t>
            </a:r>
          </a:p>
          <a:p>
            <a:pPr marL="0" indent="0">
              <a:buNone/>
            </a:pPr>
            <a:endParaRPr lang="en-IN" sz="6200" b="1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Simple and clean chatbot screen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Text input box for user queries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Send button for message submission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Sidebar navigation for banking actions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8000" dirty="0">
                <a:latin typeface="Cambria Math" panose="02040503050406030204" pitchFamily="18" charset="0"/>
                <a:ea typeface="Cambria Math" panose="02040503050406030204" pitchFamily="18" charset="0"/>
              </a:rPr>
              <a:t>Responsive layout for better usability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FFC000"/>
                </a:solidFill>
              </a:rPr>
              <a:t>Navigation &amp; User Flow</a:t>
            </a:r>
            <a:endParaRPr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Chatbot</a:t>
            </a:r>
          </a:p>
          <a:p>
            <a:pPr marL="0" indent="0">
              <a:buNone/>
            </a:pPr>
            <a:endParaRPr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B8347-2B99-04D2-BA92-66A884ADB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8734"/>
            <a:ext cx="9144000" cy="44392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D5C5B0-BDD4-FF9D-D2FB-7938C9FF44AC}"/>
              </a:ext>
            </a:extLst>
          </p:cNvPr>
          <p:cNvSpPr txBox="1"/>
          <p:nvPr/>
        </p:nvSpPr>
        <p:spPr>
          <a:xfrm>
            <a:off x="235974" y="117988"/>
            <a:ext cx="49210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00B050"/>
                </a:solidFill>
              </a:rPr>
              <a:t>Create Account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ACEC3D-1F19-789B-E4C4-287048785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595"/>
            <a:ext cx="9144000" cy="28611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363909-F55B-B4B7-AA2D-0E58B9354588}"/>
              </a:ext>
            </a:extLst>
          </p:cNvPr>
          <p:cNvSpPr txBox="1"/>
          <p:nvPr/>
        </p:nvSpPr>
        <p:spPr>
          <a:xfrm>
            <a:off x="127820" y="3767902"/>
            <a:ext cx="6570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rgbClr val="002060"/>
                </a:solidFill>
              </a:rPr>
              <a:t>Login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16B2A6-1565-B5E0-1CD2-8A02668BA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9566"/>
            <a:ext cx="9144000" cy="262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53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0B9037-0975-3406-C2CF-568092A153B5}"/>
              </a:ext>
            </a:extLst>
          </p:cNvPr>
          <p:cNvSpPr txBox="1"/>
          <p:nvPr/>
        </p:nvSpPr>
        <p:spPr>
          <a:xfrm>
            <a:off x="339213" y="12996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rgbClr val="E038CC"/>
                </a:solidFill>
              </a:rPr>
              <a:t>Check Balance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E6F32-52AA-4124-C67A-B1FC0FAD0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" y="658762"/>
            <a:ext cx="7563402" cy="221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CACEFA-6470-5AE7-56E9-909948A17F05}"/>
              </a:ext>
            </a:extLst>
          </p:cNvPr>
          <p:cNvSpPr txBox="1"/>
          <p:nvPr/>
        </p:nvSpPr>
        <p:spPr>
          <a:xfrm>
            <a:off x="83575" y="299970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bg2">
                    <a:lumMod val="25000"/>
                  </a:schemeClr>
                </a:solidFill>
              </a:rPr>
              <a:t>Transfer Money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B8F1EF-0F93-633E-5125-8FF3EE6A7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74" y="3528502"/>
            <a:ext cx="8396749" cy="319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8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FA7487-7E3E-0788-57F9-3EB862DE8AB7}"/>
              </a:ext>
            </a:extLst>
          </p:cNvPr>
          <p:cNvSpPr txBox="1"/>
          <p:nvPr/>
        </p:nvSpPr>
        <p:spPr>
          <a:xfrm>
            <a:off x="260555" y="27745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3">
                    <a:lumMod val="50000"/>
                  </a:schemeClr>
                </a:solidFill>
              </a:rPr>
              <a:t>User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2ED32-27AB-7DF3-35B3-54F751499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4" y="747253"/>
            <a:ext cx="7988711" cy="2762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7C4072-199B-A9F9-70F9-4E346D15FE7A}"/>
              </a:ext>
            </a:extLst>
          </p:cNvPr>
          <p:cNvSpPr txBox="1"/>
          <p:nvPr/>
        </p:nvSpPr>
        <p:spPr>
          <a:xfrm>
            <a:off x="260554" y="361612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rgbClr val="7030A0"/>
                </a:solidFill>
              </a:rPr>
              <a:t>Database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061EF1-8D84-E81D-19D5-DD4D8B14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55" y="4016233"/>
            <a:ext cx="8499988" cy="237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8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42626-D5C2-AD80-8D13-79E815D6F947}"/>
              </a:ext>
            </a:extLst>
          </p:cNvPr>
          <p:cNvSpPr txBox="1"/>
          <p:nvPr/>
        </p:nvSpPr>
        <p:spPr>
          <a:xfrm>
            <a:off x="250722" y="19879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tx2">
                    <a:lumMod val="75000"/>
                  </a:schemeClr>
                </a:solidFill>
              </a:rPr>
              <a:t>Logout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AB6C1-015F-FC81-9738-B21BFD82C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5" y="1070248"/>
            <a:ext cx="7379110" cy="2639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60161E-FE86-F04D-5C02-7A1B2E217544}"/>
              </a:ext>
            </a:extLst>
          </p:cNvPr>
          <p:cNvSpPr txBox="1"/>
          <p:nvPr/>
        </p:nvSpPr>
        <p:spPr>
          <a:xfrm>
            <a:off x="98323" y="3191696"/>
            <a:ext cx="9045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8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2B1822-D27D-DBAF-CE8B-B29913F99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E5C42-68BF-B990-7ADF-A626E217C35C}"/>
              </a:ext>
            </a:extLst>
          </p:cNvPr>
          <p:cNvSpPr txBox="1"/>
          <p:nvPr/>
        </p:nvSpPr>
        <p:spPr>
          <a:xfrm>
            <a:off x="2560320" y="682752"/>
            <a:ext cx="54071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u="sng" dirty="0" err="1">
                <a:solidFill>
                  <a:schemeClr val="tx2">
                    <a:lumMod val="50000"/>
                  </a:schemeClr>
                </a:solidFill>
              </a:rPr>
              <a:t>BankBot</a:t>
            </a:r>
            <a:r>
              <a:rPr lang="en-IN" sz="3200" b="1" i="1" u="sng" dirty="0">
                <a:solidFill>
                  <a:schemeClr val="tx2">
                    <a:lumMod val="50000"/>
                  </a:schemeClr>
                </a:solidFill>
              </a:rPr>
              <a:t> Admin Project </a:t>
            </a:r>
          </a:p>
          <a:p>
            <a:r>
              <a:rPr lang="en-IN" sz="3200" b="1" i="1" dirty="0">
                <a:solidFill>
                  <a:srgbClr val="00B0F0"/>
                </a:solidFill>
              </a:rPr>
              <a:t>        Milestone-4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D836D-A8A4-6828-751D-15CEFAC98E44}"/>
              </a:ext>
            </a:extLst>
          </p:cNvPr>
          <p:cNvSpPr txBox="1"/>
          <p:nvPr/>
        </p:nvSpPr>
        <p:spPr>
          <a:xfrm>
            <a:off x="265471" y="1759970"/>
            <a:ext cx="8809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BankBot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banking assistant for queries and customer support.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 of Admin Panel: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intents &amp; knowledge base.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chatbot queries.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analytics &amp; user interaction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EA54C-9709-45B0-2EB8-09659CAAEF64}"/>
              </a:ext>
            </a:extLst>
          </p:cNvPr>
          <p:cNvSpPr txBox="1"/>
          <p:nvPr/>
        </p:nvSpPr>
        <p:spPr>
          <a:xfrm>
            <a:off x="476864" y="3589925"/>
            <a:ext cx="731028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i="1" u="sng" dirty="0">
                <a:solidFill>
                  <a:schemeClr val="accent6"/>
                </a:solidFill>
              </a:rPr>
              <a:t>Project Objectives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Provide a </a:t>
            </a:r>
            <a:r>
              <a:rPr lang="en-US" b="1" dirty="0"/>
              <a:t>user-friendly interface</a:t>
            </a:r>
            <a:r>
              <a:rPr lang="en-US" dirty="0"/>
              <a:t> for bank staff/admins.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Add, edit, and delete </a:t>
            </a:r>
            <a:r>
              <a:rPr lang="en-US" b="1" dirty="0"/>
              <a:t>intents and knowledge base articles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Test chatbot with </a:t>
            </a:r>
            <a:r>
              <a:rPr lang="en-US" b="1" dirty="0"/>
              <a:t>real user queries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View </a:t>
            </a:r>
            <a:r>
              <a:rPr lang="en-US" b="1" dirty="0"/>
              <a:t>analytics &amp; confidence levels</a:t>
            </a:r>
            <a:r>
              <a:rPr lang="en-US" dirty="0"/>
              <a:t> for each intent.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Export analytics data to </a:t>
            </a:r>
            <a:r>
              <a:rPr lang="en-US" b="1" dirty="0"/>
              <a:t>PDF reports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7765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C0ED8F-58E9-2B53-C753-301BF880D578}"/>
              </a:ext>
            </a:extLst>
          </p:cNvPr>
          <p:cNvSpPr txBox="1"/>
          <p:nvPr/>
        </p:nvSpPr>
        <p:spPr>
          <a:xfrm>
            <a:off x="457200" y="368733"/>
            <a:ext cx="813619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u="sng" dirty="0">
                <a:solidFill>
                  <a:srgbClr val="E038CC"/>
                </a:solidFill>
              </a:rPr>
              <a:t>Tools &amp; Technologies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Frontend:</a:t>
            </a:r>
            <a:r>
              <a:rPr lang="en-IN" dirty="0"/>
              <a:t> </a:t>
            </a:r>
            <a:r>
              <a:rPr lang="en-IN" dirty="0" err="1"/>
              <a:t>Streamlit</a:t>
            </a:r>
            <a:r>
              <a:rPr lang="en-IN" dirty="0"/>
              <a:t> (Python)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Backend &amp; Storage:</a:t>
            </a:r>
            <a:r>
              <a:rPr lang="en-IN" dirty="0"/>
              <a:t> JSON files for intents, knowledge base, and analytics.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NLP &amp; AI:</a:t>
            </a:r>
            <a:r>
              <a:rPr lang="en-IN" dirty="0"/>
              <a:t> TF-IDF vectorizer + Cosine similarity for intent detection.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Visualization:</a:t>
            </a:r>
            <a:r>
              <a:rPr lang="en-IN" dirty="0"/>
              <a:t> Altair charts (line, bar, donut)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PDF Export:</a:t>
            </a:r>
            <a:r>
              <a:rPr lang="en-IN" dirty="0"/>
              <a:t> </a:t>
            </a:r>
            <a:r>
              <a:rPr lang="en-IN" dirty="0" err="1"/>
              <a:t>ReportLab</a:t>
            </a:r>
            <a:r>
              <a:rPr lang="en-IN" dirty="0"/>
              <a:t> library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Python Libraries:</a:t>
            </a:r>
            <a:r>
              <a:rPr lang="en-IN" dirty="0"/>
              <a:t> pandas, </a:t>
            </a:r>
            <a:r>
              <a:rPr lang="en-IN" dirty="0" err="1"/>
              <a:t>sklearn</a:t>
            </a:r>
            <a:r>
              <a:rPr lang="en-IN" dirty="0"/>
              <a:t>, datetime, </a:t>
            </a:r>
            <a:r>
              <a:rPr lang="en-IN" dirty="0" err="1"/>
              <a:t>json</a:t>
            </a:r>
            <a:r>
              <a:rPr lang="en-IN" dirty="0"/>
              <a:t>, </a:t>
            </a:r>
            <a:r>
              <a:rPr lang="en-IN" dirty="0" err="1"/>
              <a:t>reportlab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A7AC1-F1B2-ABF8-525E-5BE353C212CA}"/>
              </a:ext>
            </a:extLst>
          </p:cNvPr>
          <p:cNvSpPr txBox="1"/>
          <p:nvPr/>
        </p:nvSpPr>
        <p:spPr>
          <a:xfrm>
            <a:off x="457200" y="2563125"/>
            <a:ext cx="739877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i="1" u="sng" dirty="0">
                <a:solidFill>
                  <a:srgbClr val="00B050"/>
                </a:solidFill>
              </a:rPr>
              <a:t>Features – Admin Panel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Dashboard Overview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Total Intents, Total Queries, Top Intent.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Interactive colored cards and intent buttons.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CF8280-9713-A3CC-7EDC-EC65D6269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6" y="3803409"/>
            <a:ext cx="8327922" cy="305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00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47D01E-D25A-108B-711C-ED7C894E7C66}"/>
              </a:ext>
            </a:extLst>
          </p:cNvPr>
          <p:cNvSpPr txBox="1"/>
          <p:nvPr/>
        </p:nvSpPr>
        <p:spPr>
          <a:xfrm>
            <a:off x="181897" y="51308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2.Intent Manager:</a:t>
            </a:r>
            <a:r>
              <a:rPr lang="en-US" sz="2000" u="sng" dirty="0">
                <a:solidFill>
                  <a:srgbClr val="7030A0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Add, edit, view intents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571C6-65BA-34DD-C750-DAD7C0A7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998092"/>
            <a:ext cx="8003458" cy="20892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BF959E-C822-2491-57B3-2E51178CCF68}"/>
              </a:ext>
            </a:extLst>
          </p:cNvPr>
          <p:cNvSpPr txBox="1"/>
          <p:nvPr/>
        </p:nvSpPr>
        <p:spPr>
          <a:xfrm>
            <a:off x="403122" y="3246792"/>
            <a:ext cx="638605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3.Knowledge Base: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Add questions &amp; answers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949D8C-F1FF-DECF-B7F1-A92ED32FB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32" y="4083363"/>
            <a:ext cx="8160774" cy="258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62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58EE76-0186-142B-4B6D-32787827C728}"/>
              </a:ext>
            </a:extLst>
          </p:cNvPr>
          <p:cNvSpPr txBox="1"/>
          <p:nvPr/>
        </p:nvSpPr>
        <p:spPr>
          <a:xfrm>
            <a:off x="349045" y="518519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C00000"/>
                </a:solidFill>
              </a:rPr>
              <a:t>3.Chatbot Test:</a:t>
            </a:r>
            <a:r>
              <a:rPr lang="en-US" sz="2000" u="sng" dirty="0">
                <a:solidFill>
                  <a:srgbClr val="C00000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Input queries &amp; see NLU scores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AEBDC-0DD0-BF27-4373-7A2722949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0" y="1203179"/>
            <a:ext cx="7688827" cy="2371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F92C05-635D-8C29-CCF1-37B86F3BC954}"/>
              </a:ext>
            </a:extLst>
          </p:cNvPr>
          <p:cNvSpPr txBox="1"/>
          <p:nvPr/>
        </p:nvSpPr>
        <p:spPr>
          <a:xfrm>
            <a:off x="511276" y="3629403"/>
            <a:ext cx="621890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4.Analytics:</a:t>
            </a:r>
            <a:r>
              <a:rPr lang="en-IN" sz="2000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Interactive charts, donuts, line charts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16C1ED-D93A-3F1C-98EC-9A652C03A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76" y="4306511"/>
            <a:ext cx="7954298" cy="237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5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B97EF3-0E97-8061-735A-8CE2232E8274}"/>
              </a:ext>
            </a:extLst>
          </p:cNvPr>
          <p:cNvSpPr txBox="1"/>
          <p:nvPr/>
        </p:nvSpPr>
        <p:spPr>
          <a:xfrm>
            <a:off x="226142" y="196645"/>
            <a:ext cx="597309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4">
                    <a:lumMod val="75000"/>
                  </a:schemeClr>
                </a:solidFill>
              </a:rPr>
              <a:t>5.Export PDF:</a:t>
            </a:r>
            <a:r>
              <a:rPr lang="en-US" sz="2000" u="sng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Download reports in table format5.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4799C2-1871-B9F8-75BF-3672E656C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27" y="963561"/>
            <a:ext cx="6873836" cy="554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72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524</Words>
  <Application>Microsoft Office PowerPoint</Application>
  <PresentationFormat>On-screen Show (4:3)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Cambria Math</vt:lpstr>
      <vt:lpstr>Wingdings</vt:lpstr>
      <vt:lpstr>Office Theme</vt:lpstr>
      <vt:lpstr>BankBot AI Chatbot for Banking FAQs MILESTONE-1</vt:lpstr>
      <vt:lpstr>Check Balance – User queries account balance Transfer Money – User initiates fund transfer Card Block – User requests card blocking Find ATM – User searches for nearby ATMs</vt:lpstr>
      <vt:lpstr>NLU Visualizer </vt:lpstr>
      <vt:lpstr>MILESTONE-2</vt:lpstr>
      <vt:lpstr>PowerPoint Presentation</vt:lpstr>
      <vt:lpstr>MILESTONE-3 UI Integration &amp; Chat Interface </vt:lpstr>
      <vt:lpstr>Navigation &amp; User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BORRA SRILAKSHMI</dc:creator>
  <cp:keywords/>
  <dc:description>generated using python-pptx</dc:description>
  <cp:lastModifiedBy>BORRA SRILAKSHMI</cp:lastModifiedBy>
  <cp:revision>6</cp:revision>
  <dcterms:created xsi:type="dcterms:W3CDTF">2013-01-27T09:14:16Z</dcterms:created>
  <dcterms:modified xsi:type="dcterms:W3CDTF">2026-01-19T04:28:25Z</dcterms:modified>
  <cp:category/>
</cp:coreProperties>
</file>